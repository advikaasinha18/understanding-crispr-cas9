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vikaa sinha" userId="5e1af9ac90065462" providerId="LiveId" clId="{093EED2F-69BA-4111-BA8F-92A64CAE8127}"/>
    <pc:docChg chg="custSel addSld modSld">
      <pc:chgData name="advikaa sinha" userId="5e1af9ac90065462" providerId="LiveId" clId="{093EED2F-69BA-4111-BA8F-92A64CAE8127}" dt="2026-07-03T07:45:37.854" v="244" actId="1076"/>
      <pc:docMkLst>
        <pc:docMk/>
      </pc:docMkLst>
      <pc:sldChg chg="modSp mod">
        <pc:chgData name="advikaa sinha" userId="5e1af9ac90065462" providerId="LiveId" clId="{093EED2F-69BA-4111-BA8F-92A64CAE8127}" dt="2026-07-03T07:19:23.750" v="168" actId="14100"/>
        <pc:sldMkLst>
          <pc:docMk/>
          <pc:sldMk cId="1568824855" sldId="256"/>
        </pc:sldMkLst>
        <pc:spChg chg="mod">
          <ac:chgData name="advikaa sinha" userId="5e1af9ac90065462" providerId="LiveId" clId="{093EED2F-69BA-4111-BA8F-92A64CAE8127}" dt="2026-07-03T07:19:23.750" v="168" actId="14100"/>
          <ac:spMkLst>
            <pc:docMk/>
            <pc:sldMk cId="1568824855" sldId="256"/>
            <ac:spMk id="2" creationId="{DC4DE890-11E5-0FD8-39CA-CF01915C9286}"/>
          </ac:spMkLst>
        </pc:spChg>
        <pc:spChg chg="mod">
          <ac:chgData name="advikaa sinha" userId="5e1af9ac90065462" providerId="LiveId" clId="{093EED2F-69BA-4111-BA8F-92A64CAE8127}" dt="2026-07-03T07:19:16.542" v="167" actId="14100"/>
          <ac:spMkLst>
            <pc:docMk/>
            <pc:sldMk cId="1568824855" sldId="256"/>
            <ac:spMk id="3" creationId="{2F77D907-D694-87B5-F42B-65A219E3F91D}"/>
          </ac:spMkLst>
        </pc:spChg>
      </pc:sldChg>
      <pc:sldChg chg="addSp modSp mod">
        <pc:chgData name="advikaa sinha" userId="5e1af9ac90065462" providerId="LiveId" clId="{093EED2F-69BA-4111-BA8F-92A64CAE8127}" dt="2026-07-03T07:41:01.988" v="215" actId="14100"/>
        <pc:sldMkLst>
          <pc:docMk/>
          <pc:sldMk cId="687592575" sldId="257"/>
        </pc:sldMkLst>
        <pc:spChg chg="mod">
          <ac:chgData name="advikaa sinha" userId="5e1af9ac90065462" providerId="LiveId" clId="{093EED2F-69BA-4111-BA8F-92A64CAE8127}" dt="2026-07-03T07:40:41.011" v="209" actId="14100"/>
          <ac:spMkLst>
            <pc:docMk/>
            <pc:sldMk cId="687592575" sldId="257"/>
            <ac:spMk id="3" creationId="{868DF0C9-4F36-E5F2-A70B-240C73256140}"/>
          </ac:spMkLst>
        </pc:spChg>
        <pc:picChg chg="add mod">
          <ac:chgData name="advikaa sinha" userId="5e1af9ac90065462" providerId="LiveId" clId="{093EED2F-69BA-4111-BA8F-92A64CAE8127}" dt="2026-07-03T07:41:01.988" v="215" actId="14100"/>
          <ac:picMkLst>
            <pc:docMk/>
            <pc:sldMk cId="687592575" sldId="257"/>
            <ac:picMk id="4" creationId="{A5E47CC3-5006-75AD-F24C-8A3C5ED06555}"/>
          </ac:picMkLst>
        </pc:picChg>
      </pc:sldChg>
      <pc:sldChg chg="modSp mod">
        <pc:chgData name="advikaa sinha" userId="5e1af9ac90065462" providerId="LiveId" clId="{093EED2F-69BA-4111-BA8F-92A64CAE8127}" dt="2026-07-03T07:12:19.065" v="126"/>
        <pc:sldMkLst>
          <pc:docMk/>
          <pc:sldMk cId="1487650719" sldId="258"/>
        </pc:sldMkLst>
        <pc:spChg chg="mod">
          <ac:chgData name="advikaa sinha" userId="5e1af9ac90065462" providerId="LiveId" clId="{093EED2F-69BA-4111-BA8F-92A64CAE8127}" dt="2026-07-03T07:12:19.065" v="126"/>
          <ac:spMkLst>
            <pc:docMk/>
            <pc:sldMk cId="1487650719" sldId="258"/>
            <ac:spMk id="3" creationId="{CE6B3C22-F1FE-BCFC-2039-F83BA316BF2A}"/>
          </ac:spMkLst>
        </pc:spChg>
      </pc:sldChg>
      <pc:sldChg chg="addSp modSp mod">
        <pc:chgData name="advikaa sinha" userId="5e1af9ac90065462" providerId="LiveId" clId="{093EED2F-69BA-4111-BA8F-92A64CAE8127}" dt="2026-07-03T07:16:11.088" v="149" actId="20577"/>
        <pc:sldMkLst>
          <pc:docMk/>
          <pc:sldMk cId="1962782754" sldId="259"/>
        </pc:sldMkLst>
        <pc:spChg chg="mod">
          <ac:chgData name="advikaa sinha" userId="5e1af9ac90065462" providerId="LiveId" clId="{093EED2F-69BA-4111-BA8F-92A64CAE8127}" dt="2026-07-03T07:02:02.136" v="40" actId="14100"/>
          <ac:spMkLst>
            <pc:docMk/>
            <pc:sldMk cId="1962782754" sldId="259"/>
            <ac:spMk id="2" creationId="{0287FF60-E82F-9CB5-0795-6D4A4E6904B0}"/>
          </ac:spMkLst>
        </pc:spChg>
        <pc:spChg chg="mod">
          <ac:chgData name="advikaa sinha" userId="5e1af9ac90065462" providerId="LiveId" clId="{093EED2F-69BA-4111-BA8F-92A64CAE8127}" dt="2026-07-03T07:16:11.088" v="149" actId="20577"/>
          <ac:spMkLst>
            <pc:docMk/>
            <pc:sldMk cId="1962782754" sldId="259"/>
            <ac:spMk id="3" creationId="{3496D08D-6C70-61DC-64B7-F251D8C2600D}"/>
          </ac:spMkLst>
        </pc:spChg>
        <pc:picChg chg="add mod">
          <ac:chgData name="advikaa sinha" userId="5e1af9ac90065462" providerId="LiveId" clId="{093EED2F-69BA-4111-BA8F-92A64CAE8127}" dt="2026-07-03T07:01:31.322" v="34" actId="14100"/>
          <ac:picMkLst>
            <pc:docMk/>
            <pc:sldMk cId="1962782754" sldId="259"/>
            <ac:picMk id="4" creationId="{6A741DD0-50A1-A868-6186-88E12FCB103C}"/>
          </ac:picMkLst>
        </pc:picChg>
        <pc:picChg chg="add mod">
          <ac:chgData name="advikaa sinha" userId="5e1af9ac90065462" providerId="LiveId" clId="{093EED2F-69BA-4111-BA8F-92A64CAE8127}" dt="2026-07-03T07:01:41.048" v="37" actId="14100"/>
          <ac:picMkLst>
            <pc:docMk/>
            <pc:sldMk cId="1962782754" sldId="259"/>
            <ac:picMk id="5" creationId="{B9A9363F-D52D-3253-C664-45AE35F8BC33}"/>
          </ac:picMkLst>
        </pc:picChg>
      </pc:sldChg>
      <pc:sldChg chg="addSp modSp mod">
        <pc:chgData name="advikaa sinha" userId="5e1af9ac90065462" providerId="LiveId" clId="{093EED2F-69BA-4111-BA8F-92A64CAE8127}" dt="2026-07-03T07:03:13.186" v="55" actId="1076"/>
        <pc:sldMkLst>
          <pc:docMk/>
          <pc:sldMk cId="2627159212" sldId="260"/>
        </pc:sldMkLst>
        <pc:spChg chg="mod">
          <ac:chgData name="advikaa sinha" userId="5e1af9ac90065462" providerId="LiveId" clId="{093EED2F-69BA-4111-BA8F-92A64CAE8127}" dt="2026-07-03T07:02:28.335" v="42" actId="14100"/>
          <ac:spMkLst>
            <pc:docMk/>
            <pc:sldMk cId="2627159212" sldId="260"/>
            <ac:spMk id="2" creationId="{BFEA0756-0A64-9DFE-33FD-9A5A8D7B2F1A}"/>
          </ac:spMkLst>
        </pc:spChg>
        <pc:spChg chg="mod">
          <ac:chgData name="advikaa sinha" userId="5e1af9ac90065462" providerId="LiveId" clId="{093EED2F-69BA-4111-BA8F-92A64CAE8127}" dt="2026-07-03T07:03:04.307" v="52" actId="27636"/>
          <ac:spMkLst>
            <pc:docMk/>
            <pc:sldMk cId="2627159212" sldId="260"/>
            <ac:spMk id="3" creationId="{D600E6A2-7CCE-7CF9-21DE-B6F75DC22D6C}"/>
          </ac:spMkLst>
        </pc:spChg>
        <pc:picChg chg="add mod">
          <ac:chgData name="advikaa sinha" userId="5e1af9ac90065462" providerId="LiveId" clId="{093EED2F-69BA-4111-BA8F-92A64CAE8127}" dt="2026-07-03T07:03:13.186" v="55" actId="1076"/>
          <ac:picMkLst>
            <pc:docMk/>
            <pc:sldMk cId="2627159212" sldId="260"/>
            <ac:picMk id="4" creationId="{13BBA80A-CE7A-7636-86F0-1D6C1AC02A4A}"/>
          </ac:picMkLst>
        </pc:picChg>
      </pc:sldChg>
      <pc:sldChg chg="addSp delSp modSp mod">
        <pc:chgData name="advikaa sinha" userId="5e1af9ac90065462" providerId="LiveId" clId="{093EED2F-69BA-4111-BA8F-92A64CAE8127}" dt="2026-07-03T07:15:49.121" v="145" actId="27636"/>
        <pc:sldMkLst>
          <pc:docMk/>
          <pc:sldMk cId="1781151205" sldId="261"/>
        </pc:sldMkLst>
        <pc:spChg chg="mod">
          <ac:chgData name="advikaa sinha" userId="5e1af9ac90065462" providerId="LiveId" clId="{093EED2F-69BA-4111-BA8F-92A64CAE8127}" dt="2026-07-03T07:05:06.177" v="71" actId="1076"/>
          <ac:spMkLst>
            <pc:docMk/>
            <pc:sldMk cId="1781151205" sldId="261"/>
            <ac:spMk id="2" creationId="{2A07F72C-A21D-D516-7368-CADB3F028C88}"/>
          </ac:spMkLst>
        </pc:spChg>
        <pc:spChg chg="mod">
          <ac:chgData name="advikaa sinha" userId="5e1af9ac90065462" providerId="LiveId" clId="{093EED2F-69BA-4111-BA8F-92A64CAE8127}" dt="2026-07-03T07:15:49.121" v="145" actId="27636"/>
          <ac:spMkLst>
            <pc:docMk/>
            <pc:sldMk cId="1781151205" sldId="261"/>
            <ac:spMk id="3" creationId="{6E755B55-3254-C084-1E3A-121E990630B8}"/>
          </ac:spMkLst>
        </pc:spChg>
        <pc:picChg chg="add mod">
          <ac:chgData name="advikaa sinha" userId="5e1af9ac90065462" providerId="LiveId" clId="{093EED2F-69BA-4111-BA8F-92A64CAE8127}" dt="2026-07-03T07:06:10.114" v="85" actId="1076"/>
          <ac:picMkLst>
            <pc:docMk/>
            <pc:sldMk cId="1781151205" sldId="261"/>
            <ac:picMk id="4" creationId="{073F87E0-1C99-324D-EF59-C6FB679DAD60}"/>
          </ac:picMkLst>
        </pc:picChg>
        <pc:picChg chg="add del mod">
          <ac:chgData name="advikaa sinha" userId="5e1af9ac90065462" providerId="LiveId" clId="{093EED2F-69BA-4111-BA8F-92A64CAE8127}" dt="2026-07-03T07:06:05.997" v="84" actId="478"/>
          <ac:picMkLst>
            <pc:docMk/>
            <pc:sldMk cId="1781151205" sldId="261"/>
            <ac:picMk id="5" creationId="{395DEA34-DF42-97E8-38EF-2CADA4029F9E}"/>
          </ac:picMkLst>
        </pc:picChg>
      </pc:sldChg>
      <pc:sldChg chg="modSp mod">
        <pc:chgData name="advikaa sinha" userId="5e1af9ac90065462" providerId="LiveId" clId="{093EED2F-69BA-4111-BA8F-92A64CAE8127}" dt="2026-07-03T07:15:35.138" v="140" actId="5793"/>
        <pc:sldMkLst>
          <pc:docMk/>
          <pc:sldMk cId="3490116842" sldId="262"/>
        </pc:sldMkLst>
        <pc:spChg chg="mod">
          <ac:chgData name="advikaa sinha" userId="5e1af9ac90065462" providerId="LiveId" clId="{093EED2F-69BA-4111-BA8F-92A64CAE8127}" dt="2026-07-03T07:15:35.138" v="140" actId="5793"/>
          <ac:spMkLst>
            <pc:docMk/>
            <pc:sldMk cId="3490116842" sldId="262"/>
            <ac:spMk id="3" creationId="{133B70D9-2F97-F7CC-CC4A-EA3B7931E407}"/>
          </ac:spMkLst>
        </pc:spChg>
      </pc:sldChg>
      <pc:sldChg chg="addSp delSp modSp mod">
        <pc:chgData name="advikaa sinha" userId="5e1af9ac90065462" providerId="LiveId" clId="{093EED2F-69BA-4111-BA8F-92A64CAE8127}" dt="2026-07-03T07:15:09.809" v="137"/>
        <pc:sldMkLst>
          <pc:docMk/>
          <pc:sldMk cId="386799635" sldId="263"/>
        </pc:sldMkLst>
        <pc:spChg chg="mod">
          <ac:chgData name="advikaa sinha" userId="5e1af9ac90065462" providerId="LiveId" clId="{093EED2F-69BA-4111-BA8F-92A64CAE8127}" dt="2026-07-03T07:15:09.809" v="137"/>
          <ac:spMkLst>
            <pc:docMk/>
            <pc:sldMk cId="386799635" sldId="263"/>
            <ac:spMk id="3" creationId="{B0EEFACD-682B-6CB0-DC60-148B32C25A29}"/>
          </ac:spMkLst>
        </pc:spChg>
        <pc:picChg chg="add del mod">
          <ac:chgData name="advikaa sinha" userId="5e1af9ac90065462" providerId="LiveId" clId="{093EED2F-69BA-4111-BA8F-92A64CAE8127}" dt="2026-07-03T07:07:43.927" v="95" actId="478"/>
          <ac:picMkLst>
            <pc:docMk/>
            <pc:sldMk cId="386799635" sldId="263"/>
            <ac:picMk id="4" creationId="{0401BBB8-3DC0-B810-5C4E-399E4032C307}"/>
          </ac:picMkLst>
        </pc:picChg>
        <pc:picChg chg="add mod">
          <ac:chgData name="advikaa sinha" userId="5e1af9ac90065462" providerId="LiveId" clId="{093EED2F-69BA-4111-BA8F-92A64CAE8127}" dt="2026-07-03T07:08:14.401" v="106" actId="14100"/>
          <ac:picMkLst>
            <pc:docMk/>
            <pc:sldMk cId="386799635" sldId="263"/>
            <ac:picMk id="5" creationId="{7BFADE0E-3298-2FDF-260E-2E3CF327CDBE}"/>
          </ac:picMkLst>
        </pc:picChg>
      </pc:sldChg>
      <pc:sldChg chg="modSp mod">
        <pc:chgData name="advikaa sinha" userId="5e1af9ac90065462" providerId="LiveId" clId="{093EED2F-69BA-4111-BA8F-92A64CAE8127}" dt="2026-07-03T07:17:10.897" v="156" actId="114"/>
        <pc:sldMkLst>
          <pc:docMk/>
          <pc:sldMk cId="1836099236" sldId="264"/>
        </pc:sldMkLst>
        <pc:spChg chg="mod">
          <ac:chgData name="advikaa sinha" userId="5e1af9ac90065462" providerId="LiveId" clId="{093EED2F-69BA-4111-BA8F-92A64CAE8127}" dt="2026-07-03T07:17:10.897" v="156" actId="114"/>
          <ac:spMkLst>
            <pc:docMk/>
            <pc:sldMk cId="1836099236" sldId="264"/>
            <ac:spMk id="3" creationId="{3BE27885-B2D8-8F85-B8AE-60C9247FD7A2}"/>
          </ac:spMkLst>
        </pc:spChg>
      </pc:sldChg>
      <pc:sldChg chg="addSp modSp mod">
        <pc:chgData name="advikaa sinha" userId="5e1af9ac90065462" providerId="LiveId" clId="{093EED2F-69BA-4111-BA8F-92A64CAE8127}" dt="2026-07-03T07:13:21.002" v="130"/>
        <pc:sldMkLst>
          <pc:docMk/>
          <pc:sldMk cId="3570399607" sldId="265"/>
        </pc:sldMkLst>
        <pc:spChg chg="mod">
          <ac:chgData name="advikaa sinha" userId="5e1af9ac90065462" providerId="LiveId" clId="{093EED2F-69BA-4111-BA8F-92A64CAE8127}" dt="2026-07-03T07:13:21.002" v="130"/>
          <ac:spMkLst>
            <pc:docMk/>
            <pc:sldMk cId="3570399607" sldId="265"/>
            <ac:spMk id="3" creationId="{9D3CEBD7-E6DF-361E-62E0-DBA35D73F4B6}"/>
          </ac:spMkLst>
        </pc:spChg>
        <pc:picChg chg="add mod">
          <ac:chgData name="advikaa sinha" userId="5e1af9ac90065462" providerId="LiveId" clId="{093EED2F-69BA-4111-BA8F-92A64CAE8127}" dt="2026-07-03T07:04:09.447" v="68" actId="1076"/>
          <ac:picMkLst>
            <pc:docMk/>
            <pc:sldMk cId="3570399607" sldId="265"/>
            <ac:picMk id="2" creationId="{2DCB077C-E4AE-E520-83E8-09D308A7E024}"/>
          </ac:picMkLst>
        </pc:picChg>
        <pc:picChg chg="add mod">
          <ac:chgData name="advikaa sinha" userId="5e1af9ac90065462" providerId="LiveId" clId="{093EED2F-69BA-4111-BA8F-92A64CAE8127}" dt="2026-07-03T07:04:13.173" v="69" actId="1076"/>
          <ac:picMkLst>
            <pc:docMk/>
            <pc:sldMk cId="3570399607" sldId="265"/>
            <ac:picMk id="4" creationId="{42D0CA06-4A93-AF51-0DB7-3EA37F61154E}"/>
          </ac:picMkLst>
        </pc:picChg>
      </pc:sldChg>
      <pc:sldChg chg="addSp delSp modSp mod">
        <pc:chgData name="advikaa sinha" userId="5e1af9ac90065462" providerId="LiveId" clId="{093EED2F-69BA-4111-BA8F-92A64CAE8127}" dt="2026-07-03T07:41:25.289" v="216" actId="255"/>
        <pc:sldMkLst>
          <pc:docMk/>
          <pc:sldMk cId="1873380153" sldId="266"/>
        </pc:sldMkLst>
        <pc:spChg chg="add mod">
          <ac:chgData name="advikaa sinha" userId="5e1af9ac90065462" providerId="LiveId" clId="{093EED2F-69BA-4111-BA8F-92A64CAE8127}" dt="2026-07-03T07:41:25.289" v="216" actId="255"/>
          <ac:spMkLst>
            <pc:docMk/>
            <pc:sldMk cId="1873380153" sldId="266"/>
            <ac:spMk id="4" creationId="{42943777-1BCF-252E-D6AA-2E53B3D03257}"/>
          </ac:spMkLst>
        </pc:spChg>
        <pc:picChg chg="add mod">
          <ac:chgData name="advikaa sinha" userId="5e1af9ac90065462" providerId="LiveId" clId="{093EED2F-69BA-4111-BA8F-92A64CAE8127}" dt="2026-07-03T06:59:44.056" v="17" actId="14100"/>
          <ac:picMkLst>
            <pc:docMk/>
            <pc:sldMk cId="1873380153" sldId="266"/>
            <ac:picMk id="2" creationId="{5875C04A-C014-18A0-4C00-E8065FB79464}"/>
          </ac:picMkLst>
        </pc:picChg>
        <pc:picChg chg="del">
          <ac:chgData name="advikaa sinha" userId="5e1af9ac90065462" providerId="LiveId" clId="{093EED2F-69BA-4111-BA8F-92A64CAE8127}" dt="2026-07-03T06:58:46.413" v="7" actId="21"/>
          <ac:picMkLst>
            <pc:docMk/>
            <pc:sldMk cId="1873380153" sldId="266"/>
            <ac:picMk id="3" creationId="{C5DE0C3E-CD85-0172-B1FA-C34D72610AD7}"/>
          </ac:picMkLst>
        </pc:picChg>
        <pc:picChg chg="del">
          <ac:chgData name="advikaa sinha" userId="5e1af9ac90065462" providerId="LiveId" clId="{093EED2F-69BA-4111-BA8F-92A64CAE8127}" dt="2026-07-03T06:58:06.689" v="4" actId="21"/>
          <ac:picMkLst>
            <pc:docMk/>
            <pc:sldMk cId="1873380153" sldId="266"/>
            <ac:picMk id="4" creationId="{7565F706-87A2-2746-7654-C024289A6C1B}"/>
          </ac:picMkLst>
        </pc:picChg>
        <pc:picChg chg="add del mod">
          <ac:chgData name="advikaa sinha" userId="5e1af9ac90065462" providerId="LiveId" clId="{093EED2F-69BA-4111-BA8F-92A64CAE8127}" dt="2026-07-03T07:38:55.492" v="192" actId="21"/>
          <ac:picMkLst>
            <pc:docMk/>
            <pc:sldMk cId="1873380153" sldId="266"/>
            <ac:picMk id="5" creationId="{3EDF8B84-436A-24FE-55FF-B57398B2817F}"/>
          </ac:picMkLst>
        </pc:picChg>
      </pc:sldChg>
      <pc:sldChg chg="addSp modSp new mod">
        <pc:chgData name="advikaa sinha" userId="5e1af9ac90065462" providerId="LiveId" clId="{093EED2F-69BA-4111-BA8F-92A64CAE8127}" dt="2026-07-03T06:58:14.500" v="6" actId="1076"/>
        <pc:sldMkLst>
          <pc:docMk/>
          <pc:sldMk cId="3773770258" sldId="267"/>
        </pc:sldMkLst>
        <pc:spChg chg="add mod">
          <ac:chgData name="advikaa sinha" userId="5e1af9ac90065462" providerId="LiveId" clId="{093EED2F-69BA-4111-BA8F-92A64CAE8127}" dt="2026-07-03T06:56:59.281" v="3" actId="1076"/>
          <ac:spMkLst>
            <pc:docMk/>
            <pc:sldMk cId="3773770258" sldId="267"/>
            <ac:spMk id="3" creationId="{671EA55B-1D90-F26F-58FF-5C70B859615B}"/>
          </ac:spMkLst>
        </pc:spChg>
        <pc:picChg chg="add mod">
          <ac:chgData name="advikaa sinha" userId="5e1af9ac90065462" providerId="LiveId" clId="{093EED2F-69BA-4111-BA8F-92A64CAE8127}" dt="2026-07-03T06:58:14.500" v="6" actId="1076"/>
          <ac:picMkLst>
            <pc:docMk/>
            <pc:sldMk cId="3773770258" sldId="267"/>
            <ac:picMk id="4" creationId="{03383704-F0CE-B6E3-D3F5-3EB89F6FCEBB}"/>
          </ac:picMkLst>
        </pc:picChg>
      </pc:sldChg>
      <pc:sldChg chg="addSp delSp modSp new mod">
        <pc:chgData name="advikaa sinha" userId="5e1af9ac90065462" providerId="LiveId" clId="{093EED2F-69BA-4111-BA8F-92A64CAE8127}" dt="2026-07-03T07:45:37.854" v="244" actId="1076"/>
        <pc:sldMkLst>
          <pc:docMk/>
          <pc:sldMk cId="2636566614" sldId="268"/>
        </pc:sldMkLst>
        <pc:spChg chg="add mod">
          <ac:chgData name="advikaa sinha" userId="5e1af9ac90065462" providerId="LiveId" clId="{093EED2F-69BA-4111-BA8F-92A64CAE8127}" dt="2026-07-03T07:43:08.282" v="228" actId="1076"/>
          <ac:spMkLst>
            <pc:docMk/>
            <pc:sldMk cId="2636566614" sldId="268"/>
            <ac:spMk id="3" creationId="{576E4BC3-C6F2-D6FD-CDA4-751D90A9D157}"/>
          </ac:spMkLst>
        </pc:spChg>
        <pc:spChg chg="add mod">
          <ac:chgData name="advikaa sinha" userId="5e1af9ac90065462" providerId="LiveId" clId="{093EED2F-69BA-4111-BA8F-92A64CAE8127}" dt="2026-07-03T07:45:37.854" v="244" actId="1076"/>
          <ac:spMkLst>
            <pc:docMk/>
            <pc:sldMk cId="2636566614" sldId="268"/>
            <ac:spMk id="5" creationId="{43A19614-23BE-490E-3589-4684E733A649}"/>
          </ac:spMkLst>
        </pc:spChg>
        <pc:picChg chg="add del mod">
          <ac:chgData name="advikaa sinha" userId="5e1af9ac90065462" providerId="LiveId" clId="{093EED2F-69BA-4111-BA8F-92A64CAE8127}" dt="2026-07-03T07:44:40.527" v="236" actId="478"/>
          <ac:picMkLst>
            <pc:docMk/>
            <pc:sldMk cId="2636566614" sldId="268"/>
            <ac:picMk id="2" creationId="{DAB4957D-1463-6F59-F355-8A13D46493A9}"/>
          </ac:picMkLst>
        </pc:picChg>
        <pc:picChg chg="add del mod">
          <ac:chgData name="advikaa sinha" userId="5e1af9ac90065462" providerId="LiveId" clId="{093EED2F-69BA-4111-BA8F-92A64CAE8127}" dt="2026-07-03T07:43:51.979" v="231" actId="478"/>
          <ac:picMkLst>
            <pc:docMk/>
            <pc:sldMk cId="2636566614" sldId="268"/>
            <ac:picMk id="4" creationId="{6A421D2F-169D-E7AF-099D-2E90C359E35C}"/>
          </ac:picMkLst>
        </pc:picChg>
        <pc:picChg chg="add del mod">
          <ac:chgData name="advikaa sinha" userId="5e1af9ac90065462" providerId="LiveId" clId="{093EED2F-69BA-4111-BA8F-92A64CAE8127}" dt="2026-07-03T07:45:22.801" v="242" actId="478"/>
          <ac:picMkLst>
            <pc:docMk/>
            <pc:sldMk cId="2636566614" sldId="268"/>
            <ac:picMk id="6" creationId="{7C307B54-3BE1-EC49-9123-B9B56A181221}"/>
          </ac:picMkLst>
        </pc:picChg>
        <pc:picChg chg="add del mod">
          <ac:chgData name="advikaa sinha" userId="5e1af9ac90065462" providerId="LiveId" clId="{093EED2F-69BA-4111-BA8F-92A64CAE8127}" dt="2026-07-03T07:45:24.555" v="243" actId="478"/>
          <ac:picMkLst>
            <pc:docMk/>
            <pc:sldMk cId="2636566614" sldId="268"/>
            <ac:picMk id="7" creationId="{6A343A9C-94F5-E2B2-91F8-1E6129F741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8200B-6FEC-4513-9AAF-899EE836BAD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176AE-D639-4669-9026-1E608B59D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228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176AE-D639-4669-9026-1E608B59D82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19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176AE-D639-4669-9026-1E608B59D82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0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93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5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16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2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61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88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05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6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1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24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40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0072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732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33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683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62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52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E2D7-CA10-461D-B6CF-3E211888515F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7F15C-33CE-4D13-894A-17024259F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7573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E890-11E5-0FD8-39CA-CF01915C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4469" y="118534"/>
            <a:ext cx="7940144" cy="3572934"/>
          </a:xfrm>
        </p:spPr>
        <p:txBody>
          <a:bodyPr>
            <a:normAutofit/>
          </a:bodyPr>
          <a:lstStyle/>
          <a:p>
            <a:r>
              <a:rPr lang="en-IN" sz="9600" b="1" dirty="0">
                <a:cs typeface="Aharoni" panose="02010803020104030203" pitchFamily="2" charset="-79"/>
              </a:rPr>
              <a:t>CRISPR-Cas9</a:t>
            </a:r>
            <a:br>
              <a:rPr lang="en-IN" dirty="0"/>
            </a:br>
            <a:r>
              <a:rPr lang="en-IN" sz="4000" dirty="0">
                <a:cs typeface="Aharoni" panose="02010803020104030203" pitchFamily="2" charset="-79"/>
              </a:rPr>
              <a:t>The Molecular Scissors That Changed Biology</a:t>
            </a:r>
            <a:br>
              <a:rPr lang="en-IN" sz="4000" dirty="0">
                <a:cs typeface="Aharoni" panose="02010803020104030203" pitchFamily="2" charset="-79"/>
              </a:rPr>
            </a:br>
            <a:r>
              <a:rPr lang="en-IN" sz="2200" dirty="0"/>
              <a:t>A beginner's exploration of one of the biotechnology's most transformative innovations.</a:t>
            </a:r>
            <a:endParaRPr lang="en-IN" sz="2200" dirty="0"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7D907-D694-87B5-F42B-65A219E3F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468" y="3602038"/>
            <a:ext cx="7103531" cy="1655762"/>
          </a:xfrm>
        </p:spPr>
        <p:txBody>
          <a:bodyPr>
            <a:normAutofit/>
          </a:bodyPr>
          <a:lstStyle/>
          <a:p>
            <a:r>
              <a:rPr lang="en-IN" dirty="0">
                <a:latin typeface="+mj-lt"/>
                <a:cs typeface="Aharoni" panose="02010803020104030203" pitchFamily="2" charset="-79"/>
              </a:rPr>
              <a:t>ADVIKAA SINHA</a:t>
            </a:r>
          </a:p>
          <a:p>
            <a:r>
              <a:rPr lang="en-IN" dirty="0"/>
              <a:t>Undergraduate Biotechnology </a:t>
            </a:r>
            <a:r>
              <a:rPr lang="en-IN" dirty="0">
                <a:latin typeface="+mj-lt"/>
                <a:cs typeface="Aharoni" panose="02010803020104030203" pitchFamily="2" charset="-79"/>
              </a:rPr>
              <a:t>STUDENT</a:t>
            </a: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pic>
        <p:nvPicPr>
          <p:cNvPr id="4" name="Picture 3" descr="https://images.openai.com/static-rsc-4/8qPM9Abeh-qiOMWPhaScdSYOU32FRRHp0suZKZ1A5iG5ULQTzGPzjhtenGq8t0uaLNfBA9GHUzQJdEfqCLOtpKGyouPxDr28UPJV2ZJUPdR40DBCbnGwhNwpEmI7_ZH0jKIVgtgNBIDxQeO6Inw-VAIZ2tss79VnFRtsu5pHGhoskCn44m09U90tBp9q-1bA?purpose=fullsize">
            <a:extLst>
              <a:ext uri="{FF2B5EF4-FFF2-40B4-BE49-F238E27FC236}">
                <a16:creationId xmlns:a16="http://schemas.microsoft.com/office/drawing/2014/main" id="{22B593FF-7CDD-AFA7-99CE-E7581D996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533" y="4233333"/>
            <a:ext cx="3564467" cy="2624667"/>
          </a:xfrm>
          <a:prstGeom prst="rect">
            <a:avLst/>
          </a:prstGeom>
        </p:spPr>
      </p:pic>
      <p:pic>
        <p:nvPicPr>
          <p:cNvPr id="6" name="Picture 5" descr="https://images.openai.com/static-rsc-4/0F1b39mJcu9MBMVU-jj75bMc97P_iqpvz_WySsrVwRzs0QEPdDAKwuiLN7NZNjsUwUUfCPg4sDKDShQBsXH1nklPRoGZxQzWJQ4NbAYVVsUIc7sTzoMal4_cE2jxVDg6VpTuxKaSTYr3e9qrR-Ms2b81pCiwqbf78Co3fgCjHK5xdEQfX1DGfTv4SnSsgpib?purpose=fullsize">
            <a:extLst>
              <a:ext uri="{FF2B5EF4-FFF2-40B4-BE49-F238E27FC236}">
                <a16:creationId xmlns:a16="http://schemas.microsoft.com/office/drawing/2014/main" id="{696539E9-0778-84C9-868D-982A35AE3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308" y="0"/>
            <a:ext cx="3219299" cy="2658534"/>
          </a:xfrm>
          <a:prstGeom prst="rect">
            <a:avLst/>
          </a:prstGeom>
        </p:spPr>
      </p:pic>
      <p:pic>
        <p:nvPicPr>
          <p:cNvPr id="7" name="Picture 6" descr="https://images.openai.com/static-rsc-4/pyjAnZ2Up8G0OpgmoQ3wsMjyTww762bymqDnsWB4-_5DIGv2X4mjXO8gqT6tk8v5jeNc4Obh2OTeJ1BDT4uweYOoKyOe6PI0FsoTddLA-qBHVjIizpsFE1171H8DOsW__FocG5EGnCt8KGBKCHpz4n5jS701PqYzcKwpOeNkBrvlBGsFdik0cIbLu0ti1rtt?purpose=fullsize">
            <a:extLst>
              <a:ext uri="{FF2B5EF4-FFF2-40B4-BE49-F238E27FC236}">
                <a16:creationId xmlns:a16="http://schemas.microsoft.com/office/drawing/2014/main" id="{1BB16CB9-B537-42FE-86E8-AAC0FC794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13212"/>
            <a:ext cx="3200991" cy="2744788"/>
          </a:xfrm>
          <a:prstGeom prst="rect">
            <a:avLst/>
          </a:prstGeom>
        </p:spPr>
      </p:pic>
      <p:pic>
        <p:nvPicPr>
          <p:cNvPr id="8" name="Picture 7" descr="Phage Therapy Starts Realizing Its Long-Deferred Potential">
            <a:extLst>
              <a:ext uri="{FF2B5EF4-FFF2-40B4-BE49-F238E27FC236}">
                <a16:creationId xmlns:a16="http://schemas.microsoft.com/office/drawing/2014/main" id="{B7472AEB-F21C-254D-E0F6-5E107B950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308" y="2217473"/>
            <a:ext cx="3219299" cy="221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2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A599-FF0C-6FF2-CB5D-74528EA9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946778"/>
          </a:xfrm>
        </p:spPr>
        <p:txBody>
          <a:bodyPr>
            <a:noAutofit/>
          </a:bodyPr>
          <a:lstStyle/>
          <a:p>
            <a:r>
              <a:rPr lang="en-IN" sz="6000" b="1" dirty="0">
                <a:cs typeface="Aharoni" panose="02010803020104030203" pitchFamily="2" charset="-79"/>
              </a:rPr>
              <a:t>WHAT IS CRISPR-Cas9?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F0C9-4F36-E5F2-A70B-240C7325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343" y="946779"/>
            <a:ext cx="6890657" cy="5911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u="sng" dirty="0"/>
              <a:t>Definition</a:t>
            </a:r>
          </a:p>
          <a:p>
            <a:r>
              <a:rPr lang="en-IN" sz="1800" b="1" dirty="0"/>
              <a:t>CRISPR-Cas9</a:t>
            </a:r>
            <a:r>
              <a:rPr lang="en-IN" sz="1800" dirty="0"/>
              <a:t> is a revolutionary gene-editing technology that allows scientists to make precise changes to DNA. It acts like </a:t>
            </a:r>
            <a:r>
              <a:rPr lang="en-IN" sz="1800" b="1" dirty="0"/>
              <a:t>molecular scissors</a:t>
            </a:r>
            <a:r>
              <a:rPr lang="en-IN" sz="1800" dirty="0"/>
              <a:t>, enabling researchers to add, remove, or modify specific genes with remarkable accuracy.</a:t>
            </a:r>
          </a:p>
          <a:p>
            <a:pPr marL="0" indent="0">
              <a:buNone/>
            </a:pPr>
            <a:r>
              <a:rPr lang="en-IN" sz="1800" b="1" dirty="0"/>
              <a:t>Did You Know?</a:t>
            </a:r>
            <a:endParaRPr lang="en-IN" sz="1800" dirty="0"/>
          </a:p>
          <a:p>
            <a:r>
              <a:rPr lang="en-IN" sz="1800" dirty="0"/>
              <a:t>In </a:t>
            </a:r>
            <a:r>
              <a:rPr lang="en-IN" sz="1800" b="1" dirty="0"/>
              <a:t>2020</a:t>
            </a:r>
            <a:r>
              <a:rPr lang="en-IN" sz="1800" dirty="0"/>
              <a:t>, Emmanuelle Charpentier and Jennifer Doudna received the </a:t>
            </a:r>
            <a:r>
              <a:rPr lang="en-IN" sz="1800" b="1" dirty="0"/>
              <a:t>Nobel Prize in Chemistry</a:t>
            </a:r>
            <a:r>
              <a:rPr lang="en-IN" sz="1800" dirty="0"/>
              <a:t> for developing CRISPR-Cas9 gene-editing technology.</a:t>
            </a:r>
          </a:p>
          <a:p>
            <a:pPr marL="0" indent="0">
              <a:buNone/>
            </a:pPr>
            <a:r>
              <a:rPr lang="en-IN" sz="1800" b="1" u="sng" dirty="0"/>
              <a:t>Brief History</a:t>
            </a:r>
          </a:p>
          <a:p>
            <a:r>
              <a:rPr lang="en-IN" sz="1800" dirty="0"/>
              <a:t>CRISPR was first discovered as part of the </a:t>
            </a:r>
            <a:r>
              <a:rPr lang="en-IN" sz="1800" b="1" dirty="0"/>
              <a:t>natural immune system of bacteria</a:t>
            </a:r>
            <a:r>
              <a:rPr lang="en-IN" sz="1800" dirty="0"/>
              <a:t>. Bacteria use CRISPR sequences and the Cas9 protein to recognize and destroy the DNA of invading viruses, protecting themselves from infection. Scientists later adapted this natural </a:t>
            </a:r>
            <a:r>
              <a:rPr lang="en-IN" sz="1800" dirty="0" err="1"/>
              <a:t>defense</a:t>
            </a:r>
            <a:r>
              <a:rPr lang="en-IN" sz="1800" dirty="0"/>
              <a:t> mechanism into a powerful tool for gene editing.</a:t>
            </a:r>
          </a:p>
        </p:txBody>
      </p:sp>
      <p:pic>
        <p:nvPicPr>
          <p:cNvPr id="4" name="Picture 3" descr="What is the Human Virome?">
            <a:extLst>
              <a:ext uri="{FF2B5EF4-FFF2-40B4-BE49-F238E27FC236}">
                <a16:creationId xmlns:a16="http://schemas.microsoft.com/office/drawing/2014/main" id="{A5E47CC3-5006-75AD-F24C-8A3C5ED0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9" y="1175657"/>
            <a:ext cx="5018315" cy="549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9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ISPR-cas9 | Embryo Project Encyclopedia">
            <a:extLst>
              <a:ext uri="{FF2B5EF4-FFF2-40B4-BE49-F238E27FC236}">
                <a16:creationId xmlns:a16="http://schemas.microsoft.com/office/drawing/2014/main" id="{5875C04A-C014-18A0-4C00-E8065FB79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0891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943777-1BCF-252E-D6AA-2E53B3D03257}"/>
              </a:ext>
            </a:extLst>
          </p:cNvPr>
          <p:cNvSpPr txBox="1"/>
          <p:nvPr/>
        </p:nvSpPr>
        <p:spPr>
          <a:xfrm>
            <a:off x="6183088" y="613513"/>
            <a:ext cx="610144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u="sng" dirty="0"/>
              <a:t>Why is it Revolutionary?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Enables highly precise and targeted DNA editing.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Faster, simpler, and more cost-effective than older gene-editing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Has transformed research in genetics, medicine, agriculture, and biotechnology.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Offers potential treatments for genetic disorders, cancer, and infectious 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Accelerates scientific discoveries and the development of personalized medicine.</a:t>
            </a:r>
          </a:p>
          <a:p>
            <a:pPr marL="0" indent="0">
              <a:buNone/>
            </a:pPr>
            <a:r>
              <a:rPr lang="en-IN" sz="2000" dirty="0"/>
              <a:t>💡 </a:t>
            </a:r>
            <a:r>
              <a:rPr lang="en-IN" sz="2000" b="1" dirty="0"/>
              <a:t>Student Insight:</a:t>
            </a:r>
            <a:r>
              <a:rPr lang="en-IN" sz="2000" dirty="0"/>
              <a:t> Learning that CRISPR originated from a bacterial </a:t>
            </a:r>
            <a:r>
              <a:rPr lang="en-IN" sz="2000" dirty="0" err="1"/>
              <a:t>defense</a:t>
            </a:r>
            <a:r>
              <a:rPr lang="en-IN" sz="2000" dirty="0"/>
              <a:t> system completely changed how I think about nature-inspired innovations.</a:t>
            </a:r>
          </a:p>
        </p:txBody>
      </p:sp>
    </p:spTree>
    <p:extLst>
      <p:ext uri="{BB962C8B-B14F-4D97-AF65-F5344CB8AC3E}">
        <p14:creationId xmlns:p14="http://schemas.microsoft.com/office/powerpoint/2010/main" val="187338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D56C-2FBE-5674-1397-18646669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886" y="381000"/>
            <a:ext cx="9895113" cy="565778"/>
          </a:xfrm>
        </p:spPr>
        <p:txBody>
          <a:bodyPr>
            <a:noAutofit/>
          </a:bodyPr>
          <a:lstStyle/>
          <a:p>
            <a:r>
              <a:rPr lang="en-IN" sz="4800" b="1" dirty="0"/>
              <a:t>How Does CRISPR-Cas9 Work?</a:t>
            </a:r>
            <a:br>
              <a:rPr lang="en-IN" sz="4800" b="1" dirty="0"/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3C22-F1FE-BCFC-2039-F83BA316B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085" y="674915"/>
            <a:ext cx="10580915" cy="61830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300" dirty="0"/>
              <a:t>CRISPR-Cas9 edits DNA through a simple three-step process:</a:t>
            </a:r>
          </a:p>
          <a:p>
            <a:r>
              <a:rPr lang="en-IN" sz="2300" b="1" dirty="0"/>
              <a:t>Step 1: </a:t>
            </a:r>
            <a:r>
              <a:rPr lang="en-IN" sz="2300" b="1" u="sng" dirty="0"/>
              <a:t>Guide RNA (gRNA) Finds the Target</a:t>
            </a:r>
          </a:p>
          <a:p>
            <a:pPr marL="0" indent="0">
              <a:buNone/>
            </a:pPr>
            <a:r>
              <a:rPr lang="en-IN" sz="2300" dirty="0"/>
              <a:t>A specially designed </a:t>
            </a:r>
            <a:r>
              <a:rPr lang="en-IN" sz="2300" b="1" dirty="0"/>
              <a:t>Guide RNA (gRNA)</a:t>
            </a:r>
            <a:r>
              <a:rPr lang="en-IN" sz="2300" dirty="0"/>
              <a:t> recognizes and binds to a specific DNA sequence that scientists want to edit. The gRNA acts like a GPS, directing the Cas9 protein to the exact location in the genome.</a:t>
            </a:r>
          </a:p>
          <a:p>
            <a:r>
              <a:rPr lang="en-IN" sz="2300" b="1" dirty="0"/>
              <a:t>Step 2: </a:t>
            </a:r>
            <a:r>
              <a:rPr lang="en-IN" sz="2300" b="1" u="sng" dirty="0"/>
              <a:t>Cas9 Cuts the DNA</a:t>
            </a:r>
          </a:p>
          <a:p>
            <a:pPr marL="0" indent="0">
              <a:buNone/>
            </a:pPr>
            <a:r>
              <a:rPr lang="en-IN" sz="2300" dirty="0"/>
              <a:t>Once the target sequence is located, the </a:t>
            </a:r>
            <a:r>
              <a:rPr lang="en-IN" sz="2300" b="1" dirty="0"/>
              <a:t>Cas9 protein</a:t>
            </a:r>
            <a:r>
              <a:rPr lang="en-IN" sz="2300" dirty="0"/>
              <a:t> acts as molecular scissors and creates a precise double-strand break in the DNA. This cut is the first step in making a genetic change.</a:t>
            </a:r>
          </a:p>
          <a:p>
            <a:r>
              <a:rPr lang="en-IN" sz="2300" b="1" dirty="0"/>
              <a:t>Step 3: </a:t>
            </a:r>
            <a:r>
              <a:rPr lang="en-IN" sz="2300" b="1" u="sng" dirty="0"/>
              <a:t>The Cell Repairs the DNA</a:t>
            </a:r>
          </a:p>
          <a:p>
            <a:pPr marL="0" indent="0">
              <a:buNone/>
            </a:pPr>
            <a:r>
              <a:rPr lang="en-IN" sz="2300" dirty="0"/>
              <a:t>After the DNA is cut, the cell activates its natural repair mechanisms. Scientists can use these repair pathways to achieve different outcomes:</a:t>
            </a:r>
          </a:p>
          <a:p>
            <a:pPr marL="0" indent="0">
              <a:buNone/>
            </a:pPr>
            <a:r>
              <a:rPr lang="en-IN" sz="2300" b="1" dirty="0"/>
              <a:t>Non-Homologous End Joining (NHEJ):</a:t>
            </a:r>
            <a:r>
              <a:rPr lang="en-IN" sz="2300" dirty="0"/>
              <a:t> A quick repair process that often introduces small insertions or deletions, effectively turning a gene off (gene knockout).</a:t>
            </a:r>
          </a:p>
          <a:p>
            <a:pPr marL="0" indent="0">
              <a:buNone/>
            </a:pPr>
            <a:r>
              <a:rPr lang="en-IN" sz="2300" b="1" dirty="0"/>
              <a:t>Homology-Directed Repair (HDR):</a:t>
            </a:r>
            <a:r>
              <a:rPr lang="en-IN" sz="2300" dirty="0"/>
              <a:t> Uses a DNA template to accurately repair or replace the damaged sequence, allowing scientists to correct mutations or insert new genetic information.</a:t>
            </a:r>
            <a:endParaRPr lang="en-IN" sz="2300" b="1" dirty="0"/>
          </a:p>
          <a:p>
            <a:pPr marL="0" indent="0">
              <a:buNone/>
            </a:pPr>
            <a:r>
              <a:rPr lang="en-IN" dirty="0"/>
              <a:t>💡</a:t>
            </a:r>
            <a:r>
              <a:rPr lang="en-IN" b="1" dirty="0"/>
              <a:t>Student Insight:</a:t>
            </a:r>
            <a:r>
              <a:rPr lang="en-IN" dirty="0"/>
              <a:t> The three-step workflow made gene editing much easier to understand than I initially expected.</a:t>
            </a:r>
          </a:p>
        </p:txBody>
      </p:sp>
    </p:spTree>
    <p:extLst>
      <p:ext uri="{BB962C8B-B14F-4D97-AF65-F5344CB8AC3E}">
        <p14:creationId xmlns:p14="http://schemas.microsoft.com/office/powerpoint/2010/main" val="148765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EA55B-1D90-F26F-58FF-5C70B859615B}"/>
              </a:ext>
            </a:extLst>
          </p:cNvPr>
          <p:cNvSpPr txBox="1"/>
          <p:nvPr/>
        </p:nvSpPr>
        <p:spPr>
          <a:xfrm>
            <a:off x="1700893" y="834241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CRISPR Workflow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Guide RNA (gRNA)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Recognizes Target DNA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Cas9 Protein Binds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DNA is Cut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Cell Repairs DNA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↙             ↘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NHEJ           HDR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(Gene          (Gene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Knockout)      Correction</a:t>
            </a:r>
          </a:p>
        </p:txBody>
      </p:sp>
      <p:pic>
        <p:nvPicPr>
          <p:cNvPr id="4" name="Picture 3" descr="CRISPR-Cas9 is a groundbreaking genome-editing tool that allows scientists… | Ashika Jain">
            <a:extLst>
              <a:ext uri="{FF2B5EF4-FFF2-40B4-BE49-F238E27FC236}">
                <a16:creationId xmlns:a16="http://schemas.microsoft.com/office/drawing/2014/main" id="{03383704-F0CE-B6E3-D3F5-3EB89F6F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733" y="21771"/>
            <a:ext cx="61552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70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FF60-E82F-9CB5-0795-6D4A4E69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057" y="457200"/>
            <a:ext cx="8763000" cy="48957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5300" b="1" dirty="0"/>
              <a:t>Components of CRISPR-Cas9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D08D-6C70-61DC-64B7-F251D8C26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3057" y="946777"/>
            <a:ext cx="8958944" cy="57914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CRISPR-Cas9 consists of four key components that work together to edit DNA with high precision.</a:t>
            </a:r>
          </a:p>
          <a:p>
            <a:r>
              <a:rPr lang="en-IN" b="1" dirty="0"/>
              <a:t>1. </a:t>
            </a:r>
            <a:r>
              <a:rPr lang="en-IN" b="1" u="sng" dirty="0"/>
              <a:t>Guide RNA (gRNA)</a:t>
            </a:r>
          </a:p>
          <a:p>
            <a:pPr marL="0" indent="0">
              <a:buNone/>
            </a:pPr>
            <a:r>
              <a:rPr lang="en-IN" dirty="0"/>
              <a:t>The guide RNA is a short RNA molecule designed to match a specific DNA sequence. It directs the Cas9 protein to the exact location where the DNA needs to be edited.</a:t>
            </a:r>
          </a:p>
          <a:p>
            <a:r>
              <a:rPr lang="en-IN" b="1" dirty="0"/>
              <a:t>2. </a:t>
            </a:r>
            <a:r>
              <a:rPr lang="en-IN" b="1" u="sng" dirty="0"/>
              <a:t>Cas9 Protein</a:t>
            </a:r>
          </a:p>
          <a:p>
            <a:pPr marL="0" indent="0">
              <a:buNone/>
            </a:pPr>
            <a:r>
              <a:rPr lang="en-IN" dirty="0"/>
              <a:t>Cas9 is an enzyme that acts as </a:t>
            </a:r>
            <a:r>
              <a:rPr lang="en-IN" b="1" dirty="0"/>
              <a:t>molecular scissors</a:t>
            </a:r>
            <a:r>
              <a:rPr lang="en-IN" dirty="0"/>
              <a:t>. Once guided by the gRNA, it cuts both strands of the target DNA, initiating the editing process.</a:t>
            </a:r>
          </a:p>
          <a:p>
            <a:r>
              <a:rPr lang="en-IN" b="1" dirty="0"/>
              <a:t>3. </a:t>
            </a:r>
            <a:r>
              <a:rPr lang="en-IN" b="1" u="sng" dirty="0"/>
              <a:t>Target DNA</a:t>
            </a:r>
          </a:p>
          <a:p>
            <a:pPr marL="0" indent="0">
              <a:buNone/>
            </a:pPr>
            <a:r>
              <a:rPr lang="en-IN" dirty="0"/>
              <a:t>This is the specific DNA sequence selected for editing. Scientists can remove, replace, or modify genes depending on the desired outcome.</a:t>
            </a:r>
          </a:p>
          <a:p>
            <a:r>
              <a:rPr lang="en-IN" b="1" dirty="0"/>
              <a:t>4. </a:t>
            </a:r>
            <a:r>
              <a:rPr lang="en-IN" b="1" u="sng" dirty="0"/>
              <a:t>PAM Sequence</a:t>
            </a:r>
          </a:p>
          <a:p>
            <a:pPr marL="0" indent="0">
              <a:buNone/>
            </a:pPr>
            <a:r>
              <a:rPr lang="en-IN" dirty="0"/>
              <a:t>The </a:t>
            </a:r>
            <a:r>
              <a:rPr lang="en-IN" b="1" dirty="0"/>
              <a:t>Protospacer Adjacent Motif (PAM)</a:t>
            </a:r>
            <a:r>
              <a:rPr lang="en-IN" dirty="0"/>
              <a:t> is a short DNA sequence located next to the target site. Cas9 can only bind and cut DNA if a PAM sequence is present, ensuring greater specificity.</a:t>
            </a:r>
          </a:p>
        </p:txBody>
      </p:sp>
      <p:pic>
        <p:nvPicPr>
          <p:cNvPr id="4" name="Picture 3" descr="https://images.openai.com/static-rsc-4/YSlSFgT1QvBgJYD4mOyiYqVxkIeyuUOIQWftBQLTR3Gjq98sQ1FDXW17lpalkfQGFmpiiMMWkgaQo7aCyl28kKNt1WXmbnlDeFuITvAMMsY_j2Qz_1Ze5HdKZYMDlxqwzxsfjPCLz5WH-1Lk6KbIGW1H8BHHIe370kwk3ZMLMYbDFhMjx9RxhQFxZAKJx-Fe?purpose=fullsize">
            <a:extLst>
              <a:ext uri="{FF2B5EF4-FFF2-40B4-BE49-F238E27FC236}">
                <a16:creationId xmlns:a16="http://schemas.microsoft.com/office/drawing/2014/main" id="{6A741DD0-50A1-A868-6186-88E12FCB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3491"/>
            <a:ext cx="3233057" cy="2729525"/>
          </a:xfrm>
          <a:prstGeom prst="rect">
            <a:avLst/>
          </a:prstGeom>
        </p:spPr>
      </p:pic>
      <p:pic>
        <p:nvPicPr>
          <p:cNvPr id="5" name="Picture 4" descr="https://images.openai.com/static-rsc-4/ViK7GpLdzZ8-cVSMU2LyaboV_cWIkOL-nvqN03VIHPlRPzNKvf2B5qAFeM1ldmSYQ_j8ZRIkDKHOLXaNtdg1aJ4sNckQLnTqYwRDASb3Vs8uobcyDONnZhVn5GX65hsJYoV0BylzAOpYOcUUdAgWlICieIJTJOJutS3_79kChpZpzQxYitwiasjthZHCGCRn?purpose=fullsize">
            <a:extLst>
              <a:ext uri="{FF2B5EF4-FFF2-40B4-BE49-F238E27FC236}">
                <a16:creationId xmlns:a16="http://schemas.microsoft.com/office/drawing/2014/main" id="{B9A9363F-D52D-3253-C664-45AE35F8B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3017"/>
            <a:ext cx="3233057" cy="334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82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0756-0A64-9DFE-33FD-9A5A8D7B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057" y="270933"/>
            <a:ext cx="8512628" cy="643467"/>
          </a:xfrm>
        </p:spPr>
        <p:txBody>
          <a:bodyPr>
            <a:normAutofit fontScale="90000"/>
          </a:bodyPr>
          <a:lstStyle/>
          <a:p>
            <a:r>
              <a:rPr lang="en-IN" sz="5300" b="1" dirty="0"/>
              <a:t>Applications of CRISPR-Cas9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E6A2-7CCE-7CF9-21DE-B6F75DC22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399" y="592666"/>
            <a:ext cx="7941733" cy="62653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800" dirty="0"/>
              <a:t>CRISPR-Cas9 has transformed biotechnology and is being used across multiple fields. </a:t>
            </a:r>
          </a:p>
          <a:p>
            <a:pPr marL="0" indent="0">
              <a:buNone/>
            </a:pPr>
            <a:r>
              <a:rPr lang="en-IN" sz="2800" b="1" dirty="0"/>
              <a:t>🦠 </a:t>
            </a:r>
            <a:r>
              <a:rPr lang="en-IN" sz="2800" b="1" u="sng" dirty="0"/>
              <a:t>Disease Research</a:t>
            </a:r>
          </a:p>
          <a:p>
            <a:r>
              <a:rPr lang="en-IN" sz="2800" dirty="0"/>
              <a:t>Developing disease models for research.</a:t>
            </a:r>
          </a:p>
          <a:p>
            <a:r>
              <a:rPr lang="en-IN" sz="2800" dirty="0"/>
              <a:t>Understanding how genes influence health and disease.</a:t>
            </a:r>
          </a:p>
          <a:p>
            <a:r>
              <a:rPr lang="en-IN" sz="2800" dirty="0"/>
              <a:t>Studying viral infections and immune responses.</a:t>
            </a:r>
          </a:p>
          <a:p>
            <a:pPr marL="0" indent="0">
              <a:buNone/>
            </a:pPr>
            <a:r>
              <a:rPr lang="en-IN" sz="2800" b="1" dirty="0"/>
              <a:t>💊</a:t>
            </a:r>
            <a:r>
              <a:rPr lang="en-IN" sz="2800" b="1" u="sng" dirty="0"/>
              <a:t> Drug Discovery</a:t>
            </a:r>
          </a:p>
          <a:p>
            <a:r>
              <a:rPr lang="en-IN" sz="2800" dirty="0"/>
              <a:t>Identifying new drug targets.</a:t>
            </a:r>
          </a:p>
          <a:p>
            <a:r>
              <a:rPr lang="en-IN" sz="2800" dirty="0"/>
              <a:t>Testing drug effectiveness more efficiently.</a:t>
            </a:r>
          </a:p>
          <a:p>
            <a:r>
              <a:rPr lang="en-IN" sz="2800" dirty="0"/>
              <a:t>Accelerating the development of new medicines.</a:t>
            </a:r>
          </a:p>
          <a:p>
            <a:pPr marL="0" indent="0">
              <a:buNone/>
            </a:pPr>
            <a:r>
              <a:rPr lang="en-IN" sz="2800" b="1" dirty="0"/>
              <a:t>🧪</a:t>
            </a:r>
            <a:r>
              <a:rPr lang="en-IN" sz="2800" b="1" u="sng" dirty="0"/>
              <a:t> Synthetic Biology</a:t>
            </a:r>
          </a:p>
          <a:p>
            <a:r>
              <a:rPr lang="en-IN" sz="2800" dirty="0"/>
              <a:t>Engineering microorganisms for industrial applications.</a:t>
            </a:r>
          </a:p>
          <a:p>
            <a:r>
              <a:rPr lang="en-IN" sz="2800" dirty="0"/>
              <a:t>Producing biofuels and pharmaceuticals.</a:t>
            </a:r>
          </a:p>
          <a:p>
            <a:r>
              <a:rPr lang="en-IN" sz="2800" dirty="0"/>
              <a:t>Designing organisms with useful biological functions.</a:t>
            </a:r>
          </a:p>
          <a:p>
            <a:endParaRPr lang="en-IN" dirty="0"/>
          </a:p>
        </p:txBody>
      </p:sp>
      <p:pic>
        <p:nvPicPr>
          <p:cNvPr id="4" name="Picture 3" descr="https://images.openai.com/static-rsc-4/A4kvfQn5w-i0bstWE5tTfB2swqH4p4UdDQtEqvQ3RgUl8dPC22S-GFGKImfRng44fAdB5SDo21BKCNeGhB67a8jJngrgetp8sXkKXl1XxCC50IWywpOihOGZHTiR1foWbrXoIRunPSmChKL8vmj7GSb9N489ziqzBExHazWc7gXtuSmbC2tX2xPrAPgosfPl?purpose=fullsize">
            <a:extLst>
              <a:ext uri="{FF2B5EF4-FFF2-40B4-BE49-F238E27FC236}">
                <a16:creationId xmlns:a16="http://schemas.microsoft.com/office/drawing/2014/main" id="{13BBA80A-CE7A-7636-86F0-1D6C1AC0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665"/>
            <a:ext cx="4343399" cy="392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5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CEBD7-E6DF-361E-62E0-DBA35D73F4B6}"/>
              </a:ext>
            </a:extLst>
          </p:cNvPr>
          <p:cNvSpPr txBox="1"/>
          <p:nvPr/>
        </p:nvSpPr>
        <p:spPr>
          <a:xfrm>
            <a:off x="4680857" y="1028343"/>
            <a:ext cx="73043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1" dirty="0"/>
              <a:t>🧬</a:t>
            </a:r>
            <a:r>
              <a:rPr lang="en-IN" sz="1800" b="1" u="sng" dirty="0"/>
              <a:t> Medicine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Developing treatments for genetic disorders such as sickle cell disease.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Advancing cancer immunotherapy.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Exploring therapies for rare inherited diseases.</a:t>
            </a:r>
          </a:p>
          <a:p>
            <a:pPr marL="0" indent="0">
              <a:buNone/>
            </a:pPr>
            <a:r>
              <a:rPr lang="en-IN" sz="1800" b="1" dirty="0"/>
              <a:t>🌱</a:t>
            </a:r>
            <a:r>
              <a:rPr lang="en-IN" sz="1800" b="1" u="sng" dirty="0"/>
              <a:t>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Creating pest- and disease-resistant crops.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Improving drought tolerance.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Enhancing crop yield and nutritional quality.</a:t>
            </a:r>
          </a:p>
          <a:p>
            <a:pPr marL="0" indent="0">
              <a:buNone/>
            </a:pPr>
            <a:r>
              <a:rPr lang="en-IN" sz="1800" b="1" dirty="0"/>
              <a:t>🦠</a:t>
            </a:r>
            <a:r>
              <a:rPr lang="en-IN" sz="1800" b="1" u="sng" dirty="0"/>
              <a:t> Disease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Developing disease models for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Understanding how genes influence health and disease.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Studying viral infections and immune responses.</a:t>
            </a:r>
          </a:p>
          <a:p>
            <a:r>
              <a:rPr lang="en-IN" dirty="0"/>
              <a:t>💡 </a:t>
            </a:r>
            <a:r>
              <a:rPr lang="en-IN" b="1" dirty="0"/>
              <a:t>Student Insight:</a:t>
            </a:r>
            <a:r>
              <a:rPr lang="en-IN" dirty="0"/>
              <a:t> I was surprised to learn that CRISPR has applications far beyond medicine, including agriculture and environmental biotechnology.</a:t>
            </a:r>
            <a:endParaRPr lang="en-IN" sz="1800" dirty="0"/>
          </a:p>
        </p:txBody>
      </p:sp>
      <p:pic>
        <p:nvPicPr>
          <p:cNvPr id="2" name="Picture 1" descr="https://images.openai.com/static-rsc-4/K6jBEUw24JXRXY4BPa4lfGCOt51ymhWW7zPKZGAJn4GD4l12qqX-HjFWrGGC3EW3DXWLWFXWDi6PfsNOSd7eMDD0-aAcGKTenmM4odq6LPkl62n0BJMCzdy96Mamzk51V3iyUh5SI33dOx7VRyXbBpzk3tVTeKFApzx1VUqzpOPrycG2mKB-vedi6wnGSLh9?purpose=fullsize">
            <a:extLst>
              <a:ext uri="{FF2B5EF4-FFF2-40B4-BE49-F238E27FC236}">
                <a16:creationId xmlns:a16="http://schemas.microsoft.com/office/drawing/2014/main" id="{2DCB077C-E4AE-E520-83E8-09D308A7E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3" y="250664"/>
            <a:ext cx="4559754" cy="3039836"/>
          </a:xfrm>
          <a:prstGeom prst="rect">
            <a:avLst/>
          </a:prstGeom>
        </p:spPr>
      </p:pic>
      <p:pic>
        <p:nvPicPr>
          <p:cNvPr id="4" name="Picture 3" descr="Cancer and the Nobel-winner technology CRISPR – Evolution Europe">
            <a:extLst>
              <a:ext uri="{FF2B5EF4-FFF2-40B4-BE49-F238E27FC236}">
                <a16:creationId xmlns:a16="http://schemas.microsoft.com/office/drawing/2014/main" id="{42D0CA06-4A93-AF51-0DB7-3EA37F61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03" y="3290500"/>
            <a:ext cx="4559754" cy="331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9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F72C-A21D-D516-7368-CADB3F02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506" y="628022"/>
            <a:ext cx="8911687" cy="32024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5300" b="1" dirty="0"/>
              <a:t>Advantages of CRISPR-Cas9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55B55-3254-C084-1E3A-121E9906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0313" y="948267"/>
            <a:ext cx="8911687" cy="56726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900" dirty="0"/>
              <a:t>CRISPR-Cas9 has become one of the most widely used gene-editing technologies because of its many advantages.</a:t>
            </a:r>
          </a:p>
          <a:p>
            <a:r>
              <a:rPr lang="en-IN" sz="1900" b="1" u="sng" dirty="0"/>
              <a:t>High Precision</a:t>
            </a:r>
          </a:p>
          <a:p>
            <a:pPr marL="0" indent="0">
              <a:buNone/>
            </a:pPr>
            <a:r>
              <a:rPr lang="en-IN" sz="1900" dirty="0"/>
              <a:t>Targets specific DNA sequences with remarkable accuracy, reducing unintended changes.</a:t>
            </a:r>
          </a:p>
          <a:p>
            <a:r>
              <a:rPr lang="en-IN" sz="1900" b="1" u="sng" dirty="0"/>
              <a:t>Faster than Traditional Methods</a:t>
            </a:r>
          </a:p>
          <a:p>
            <a:pPr marL="0" indent="0">
              <a:buNone/>
            </a:pPr>
            <a:r>
              <a:rPr lang="en-IN" sz="1900" dirty="0"/>
              <a:t>Gene editing can be completed in a fraction of the time required by older techniques.</a:t>
            </a:r>
          </a:p>
          <a:p>
            <a:r>
              <a:rPr lang="en-IN" sz="1900" b="1" u="sng" dirty="0"/>
              <a:t>Cost-Effective</a:t>
            </a:r>
          </a:p>
          <a:p>
            <a:pPr marL="0" indent="0">
              <a:buNone/>
            </a:pPr>
            <a:r>
              <a:rPr lang="en-IN" sz="1900" dirty="0"/>
              <a:t>CRISPR is relatively inexpensive, allowing more laboratories and researchers to use the technology.</a:t>
            </a:r>
          </a:p>
          <a:p>
            <a:r>
              <a:rPr lang="en-IN" sz="1900" b="1" u="sng" dirty="0"/>
              <a:t>Wide Range of Applications</a:t>
            </a:r>
          </a:p>
          <a:p>
            <a:pPr marL="0" indent="0">
              <a:buNone/>
            </a:pPr>
            <a:r>
              <a:rPr lang="en-IN" sz="1900" dirty="0"/>
              <a:t>Useful in medicine, agriculture, environmental science, and basic biological research.</a:t>
            </a:r>
          </a:p>
          <a:p>
            <a:r>
              <a:rPr lang="en-IN" sz="1900" b="1" u="sng" dirty="0"/>
              <a:t>Easy to Design </a:t>
            </a:r>
          </a:p>
          <a:p>
            <a:pPr marL="0" indent="0">
              <a:buNone/>
            </a:pPr>
            <a:r>
              <a:rPr lang="en-IN" sz="1900" dirty="0"/>
              <a:t>Scientists can quickly create guide RNAs to target different genes.</a:t>
            </a:r>
          </a:p>
          <a:p>
            <a:pPr marL="0" indent="0">
              <a:buNone/>
            </a:pPr>
            <a:endParaRPr lang="en-IN" sz="1900" dirty="0"/>
          </a:p>
          <a:p>
            <a:endParaRPr lang="en-IN" dirty="0"/>
          </a:p>
        </p:txBody>
      </p:sp>
      <p:pic>
        <p:nvPicPr>
          <p:cNvPr id="4" name="Picture 3" descr="CRISPR diagnostics in healthcare - Mammoth Biosciences">
            <a:extLst>
              <a:ext uri="{FF2B5EF4-FFF2-40B4-BE49-F238E27FC236}">
                <a16:creationId xmlns:a16="http://schemas.microsoft.com/office/drawing/2014/main" id="{073F87E0-1C99-324D-EF59-C6FB679DA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586"/>
            <a:ext cx="3280313" cy="350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5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4820-2099-EF95-C40B-05BC850A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125" y="817033"/>
            <a:ext cx="8911687" cy="228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5300" b="1" dirty="0"/>
              <a:t>Challenges &amp; Ethical Issues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B70D9-2F97-F7CC-CC4A-EA3B7931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771" y="931333"/>
            <a:ext cx="11027229" cy="59266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Although CRISPR offers enormous potential, several scientific and ethical challenges remain.</a:t>
            </a:r>
          </a:p>
          <a:p>
            <a:r>
              <a:rPr lang="en-IN" b="1" u="sng" dirty="0"/>
              <a:t>Off-Target Effects</a:t>
            </a:r>
          </a:p>
          <a:p>
            <a:pPr marL="0" indent="0">
              <a:buNone/>
            </a:pPr>
            <a:r>
              <a:rPr lang="en-IN" dirty="0"/>
              <a:t>Cas9 may occasionally cut unintended DNA sequences, leading to unwanted genetic changes.</a:t>
            </a:r>
          </a:p>
          <a:p>
            <a:r>
              <a:rPr lang="en-IN" b="1" u="sng" dirty="0"/>
              <a:t>Delivery Challenges</a:t>
            </a:r>
          </a:p>
          <a:p>
            <a:pPr marL="0" indent="0">
              <a:buNone/>
            </a:pPr>
            <a:r>
              <a:rPr lang="en-IN" dirty="0"/>
              <a:t>Delivering CRISPR components safely and efficiently into the correct cells remains a major hurdle.</a:t>
            </a:r>
          </a:p>
          <a:p>
            <a:r>
              <a:rPr lang="en-IN" b="1" u="sng" dirty="0"/>
              <a:t>Human Embryo Editing</a:t>
            </a:r>
          </a:p>
          <a:p>
            <a:pPr marL="0" indent="0">
              <a:buNone/>
            </a:pPr>
            <a:r>
              <a:rPr lang="en-IN" dirty="0"/>
              <a:t>Editing embryos raises concerns about inherited genetic changes and the possibility of "designer babies."</a:t>
            </a:r>
          </a:p>
          <a:p>
            <a:r>
              <a:rPr lang="en-IN" b="1" u="sng" dirty="0"/>
              <a:t>Accessibility</a:t>
            </a:r>
          </a:p>
          <a:p>
            <a:pPr marL="0" indent="0">
              <a:buNone/>
            </a:pPr>
            <a:r>
              <a:rPr lang="en-IN" dirty="0"/>
              <a:t>Advanced gene-editing therapies may be expensive, limiting access for many patients worldwide.</a:t>
            </a:r>
          </a:p>
          <a:p>
            <a:r>
              <a:rPr lang="en-IN" b="1" u="sng" dirty="0"/>
              <a:t>Ethical Responsibility</a:t>
            </a:r>
          </a:p>
          <a:p>
            <a:pPr marL="0" indent="0">
              <a:buNone/>
            </a:pPr>
            <a:r>
              <a:rPr lang="en-IN" dirty="0"/>
              <a:t>Scientists and policymakers must ensure CRISPR is used safely, responsibly, and for the benefit of society.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11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FE08-C4D5-E47E-9858-6EB75584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724" y="567267"/>
            <a:ext cx="8911687" cy="254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6700" b="1" dirty="0"/>
              <a:t>The Future of CRISPR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FACD-682B-6CB0-DC60-148B32C25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821267"/>
            <a:ext cx="11047411" cy="60367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CRISPR continues to evolve and has the potential to reshape healthcare, agriculture, and biotechnology.</a:t>
            </a:r>
          </a:p>
          <a:p>
            <a:r>
              <a:rPr lang="en-IN" b="1" u="sng" dirty="0"/>
              <a:t>Gene Therapy</a:t>
            </a:r>
          </a:p>
          <a:p>
            <a:pPr marL="0" indent="0">
              <a:buNone/>
            </a:pPr>
            <a:r>
              <a:rPr lang="en-IN" dirty="0"/>
              <a:t>Developing long-term treatments for inherited genetic disorders.</a:t>
            </a:r>
          </a:p>
          <a:p>
            <a:r>
              <a:rPr lang="en-IN" b="1" u="sng" dirty="0"/>
              <a:t>Personalized Medicine</a:t>
            </a:r>
          </a:p>
          <a:p>
            <a:pPr marL="0" indent="0">
              <a:buNone/>
            </a:pPr>
            <a:r>
              <a:rPr lang="en-IN" dirty="0"/>
              <a:t>Creating treatments tailored to an individual's genetic makeup.</a:t>
            </a:r>
          </a:p>
          <a:p>
            <a:r>
              <a:rPr lang="en-IN" b="1" u="sng" dirty="0"/>
              <a:t>Disease Prevention</a:t>
            </a:r>
          </a:p>
          <a:p>
            <a:pPr marL="0" indent="0">
              <a:buNone/>
            </a:pPr>
            <a:r>
              <a:rPr lang="en-IN" dirty="0"/>
              <a:t>Correcting harmful genetic mutations before they cause disease.</a:t>
            </a:r>
          </a:p>
          <a:p>
            <a:r>
              <a:rPr lang="en-IN" b="1" u="sng" dirty="0"/>
              <a:t>Climate-Resilient Crops</a:t>
            </a:r>
          </a:p>
          <a:p>
            <a:pPr marL="0" indent="0">
              <a:buNone/>
            </a:pPr>
            <a:r>
              <a:rPr lang="en-IN" dirty="0"/>
              <a:t>Engineering crops that can withstand drought, pests, and changing environmental conditions.</a:t>
            </a:r>
          </a:p>
          <a:p>
            <a:r>
              <a:rPr lang="en-IN" b="1" u="sng" dirty="0"/>
              <a:t>Ongoing Research</a:t>
            </a:r>
          </a:p>
          <a:p>
            <a:pPr marL="0" indent="0">
              <a:buNone/>
            </a:pPr>
            <a:r>
              <a:rPr lang="en-IN" dirty="0"/>
              <a:t>Scientists are improving CRISPR's precision, reducing off-target effects, and developing next-generation gene-editing technologies such as base editing and prime editing.</a:t>
            </a:r>
          </a:p>
          <a:p>
            <a:pPr marL="0" indent="0">
              <a:buNone/>
            </a:pPr>
            <a:r>
              <a:rPr lang="en-IN" dirty="0"/>
              <a:t>💡</a:t>
            </a:r>
            <a:r>
              <a:rPr lang="en-IN" b="1" dirty="0"/>
              <a:t>Student Insight:</a:t>
            </a:r>
            <a:r>
              <a:rPr lang="en-IN" dirty="0"/>
              <a:t> Exploring the future of CRISPR made me excited about the possibilities of personalized medicine and gene therapy.</a:t>
            </a:r>
          </a:p>
        </p:txBody>
      </p:sp>
      <p:pic>
        <p:nvPicPr>
          <p:cNvPr id="5" name="Picture 4" descr="Генная терапия: открытия и вызовы в современной медицине">
            <a:extLst>
              <a:ext uri="{FF2B5EF4-FFF2-40B4-BE49-F238E27FC236}">
                <a16:creationId xmlns:a16="http://schemas.microsoft.com/office/drawing/2014/main" id="{7BFADE0E-3298-2FDF-260E-2E3CF327C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945" y="1292982"/>
            <a:ext cx="4278084" cy="284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9EB4-19A2-3E18-DB10-AC8842CBB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846667"/>
            <a:ext cx="8911687" cy="1001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7300" b="1" dirty="0"/>
              <a:t>Key Takeaways</a:t>
            </a:r>
            <a:br>
              <a:rPr lang="en-IN" sz="7300" b="1" dirty="0"/>
            </a:br>
            <a:endParaRPr lang="en-IN" sz="7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7885-B2D8-8F85-B8AE-60C9247FD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3" y="946779"/>
            <a:ext cx="10600267" cy="59112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What We Learned</a:t>
            </a:r>
          </a:p>
          <a:p>
            <a:pPr marL="0" indent="0">
              <a:buNone/>
            </a:pPr>
            <a:r>
              <a:rPr lang="en-IN" dirty="0"/>
              <a:t>✅ CRISPR-Cas9 is a revolutionary gene-editing technology that enables precise DNA modification.</a:t>
            </a:r>
          </a:p>
          <a:p>
            <a:pPr marL="0" indent="0">
              <a:buNone/>
            </a:pPr>
            <a:r>
              <a:rPr lang="en-IN" dirty="0"/>
              <a:t>✅ It originated from the natural immune system of bacteria.</a:t>
            </a:r>
          </a:p>
          <a:p>
            <a:pPr marL="0" indent="0">
              <a:buNone/>
            </a:pPr>
            <a:r>
              <a:rPr lang="en-IN" dirty="0"/>
              <a:t>✅ The technology works through three simple steps: targeting DNA, cutting DNA, and repairing DNA.</a:t>
            </a:r>
          </a:p>
          <a:p>
            <a:pPr marL="0" indent="0">
              <a:buNone/>
            </a:pPr>
            <a:r>
              <a:rPr lang="en-IN" dirty="0"/>
              <a:t>✅ CRISPR has wide-ranging applications in medicine, agriculture, disease research, drug discovery, and synthetic biology.</a:t>
            </a:r>
          </a:p>
          <a:p>
            <a:pPr marL="0" indent="0">
              <a:buNone/>
            </a:pPr>
            <a:r>
              <a:rPr lang="en-IN" dirty="0"/>
              <a:t>✅ While the technology offers tremendous potential, ethical considerations and responsible use remain essential.</a:t>
            </a:r>
          </a:p>
          <a:p>
            <a:pPr marL="0" indent="0">
              <a:buNone/>
            </a:pPr>
            <a:r>
              <a:rPr lang="en-IN" b="1" i="1" u="sng" dirty="0"/>
              <a:t>Final Thought</a:t>
            </a:r>
          </a:p>
          <a:p>
            <a:pPr marL="0" indent="0">
              <a:buNone/>
            </a:pPr>
            <a:r>
              <a:rPr lang="en-IN" dirty="0"/>
              <a:t>As a first-year biotechnology student, learning about CRISPR-Cas9 has deepened my interest in genetics and molecular biology. Creating this presentation helped me understand how a natural bacterial </a:t>
            </a:r>
            <a:r>
              <a:rPr lang="en-IN" dirty="0" err="1"/>
              <a:t>defense</a:t>
            </a:r>
            <a:r>
              <a:rPr lang="en-IN" dirty="0"/>
              <a:t> mechanism became one of the most powerful tools in modern science. I'm excited to continue exploring biotechnology and sharing what I learn along the way.</a:t>
            </a:r>
          </a:p>
        </p:txBody>
      </p:sp>
    </p:spTree>
    <p:extLst>
      <p:ext uri="{BB962C8B-B14F-4D97-AF65-F5344CB8AC3E}">
        <p14:creationId xmlns:p14="http://schemas.microsoft.com/office/powerpoint/2010/main" val="183609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6E4BC3-C6F2-D6FD-CDA4-751D90A9D157}"/>
              </a:ext>
            </a:extLst>
          </p:cNvPr>
          <p:cNvSpPr txBox="1"/>
          <p:nvPr/>
        </p:nvSpPr>
        <p:spPr>
          <a:xfrm>
            <a:off x="3747407" y="15389"/>
            <a:ext cx="61014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6000" b="1" dirty="0"/>
              <a:t>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National Human Genome Research Institute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Broad Institute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National Institutes of Health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19614-23BE-490E-3589-4684E733A649}"/>
              </a:ext>
            </a:extLst>
          </p:cNvPr>
          <p:cNvSpPr txBox="1"/>
          <p:nvPr/>
        </p:nvSpPr>
        <p:spPr>
          <a:xfrm>
            <a:off x="587829" y="3672513"/>
            <a:ext cx="110163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Think About It 🤔</a:t>
            </a:r>
          </a:p>
          <a:p>
            <a:pPr>
              <a:buNone/>
            </a:pPr>
            <a:r>
              <a:rPr lang="en-IN" sz="2800" dirty="0"/>
              <a:t>If CRISPR could cure inherited diseases before birth, should it also be used to enhance traits like intelligence or athletic ability?</a:t>
            </a:r>
          </a:p>
        </p:txBody>
      </p:sp>
    </p:spTree>
    <p:extLst>
      <p:ext uri="{BB962C8B-B14F-4D97-AF65-F5344CB8AC3E}">
        <p14:creationId xmlns:p14="http://schemas.microsoft.com/office/powerpoint/2010/main" val="2636566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161</TotalTime>
  <Words>1339</Words>
  <Application>Microsoft Office PowerPoint</Application>
  <PresentationFormat>Widescreen</PresentationFormat>
  <Paragraphs>134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Aharoni</vt:lpstr>
      <vt:lpstr>Arial</vt:lpstr>
      <vt:lpstr>Calibri</vt:lpstr>
      <vt:lpstr>Courier New</vt:lpstr>
      <vt:lpstr>Tw Cen MT</vt:lpstr>
      <vt:lpstr>Circuit</vt:lpstr>
      <vt:lpstr>CRISPR-Cas9 The Molecular Scissors That Changed Biology A beginner's exploration of one of the biotechnology's most transformative innovations.</vt:lpstr>
      <vt:lpstr>WHAT IS CRISPR-Cas9?</vt:lpstr>
      <vt:lpstr>PowerPoint Presentation</vt:lpstr>
      <vt:lpstr>How Does CRISPR-Cas9 Work? </vt:lpstr>
      <vt:lpstr>PowerPoint Presentation</vt:lpstr>
      <vt:lpstr> Components of CRISPR-Cas9 </vt:lpstr>
      <vt:lpstr>Applications of CRISPR-Cas9 </vt:lpstr>
      <vt:lpstr>PowerPoint Presentation</vt:lpstr>
      <vt:lpstr> Advantages of CRISPR-Cas9 </vt:lpstr>
      <vt:lpstr> Challenges &amp; Ethical Issues </vt:lpstr>
      <vt:lpstr> The Future of CRISPR </vt:lpstr>
      <vt:lpstr> Key Takeaways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advikaa sinha</dc:creator>
  <cp:lastModifiedBy>advikaa sinha</cp:lastModifiedBy>
  <cp:revision>1</cp:revision>
  <dcterms:created xsi:type="dcterms:W3CDTF">2026-07-03T04:39:24Z</dcterms:created>
  <dcterms:modified xsi:type="dcterms:W3CDTF">2026-07-03T07:45:50Z</dcterms:modified>
</cp:coreProperties>
</file>